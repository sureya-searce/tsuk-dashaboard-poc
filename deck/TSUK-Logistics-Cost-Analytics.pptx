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5" r:id="rId24"/>
    <p:sldId id="262" r:id="rId12"/>
    <p:sldId id="263" r:id="rId13"/>
    <p:sldId id="264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oppi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IZemc32BODCHn652r8gN/C/e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Poppins-regular.fntdata"/><Relationship Id="rId16" Type="http://schemas.openxmlformats.org/officeDocument/2006/relationships/font" Target="fonts/Poppins-bold.fntdata"/><Relationship Id="rId17" Type="http://schemas.openxmlformats.org/officeDocument/2006/relationships/font" Target="fonts/Poppins-italic.fntdata"/><Relationship Id="rId18" Type="http://schemas.openxmlformats.org/officeDocument/2006/relationships/font" Target="fonts/Poppins-boldItalic.fntdata"/><Relationship Id="rId19" Type="http://schemas.openxmlformats.org/officeDocument/2006/relationships/font" Target="fonts/PoppinsMedium-regular.fntdata"/><Relationship Id="rId20" Type="http://schemas.openxmlformats.org/officeDocument/2006/relationships/font" Target="fonts/PoppinsMedium-bold.fntdata"/><Relationship Id="rId21" Type="http://schemas.openxmlformats.org/officeDocument/2006/relationships/font" Target="fonts/PoppinsMedium-italic.fntdata"/><Relationship Id="rId22" Type="http://schemas.openxmlformats.org/officeDocument/2006/relationships/font" Target="fonts/PoppinsMedium-boldItalic.fntdata"/><Relationship Id="rId23" Type="http://customschemas.google.com/relationships/presentationmetadata" Target="metadata"/><Relationship Id="rId2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10896" y="384048"/>
            <a:ext cx="20116" cy="43708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66928" y="4572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SEARCE  ×  TATA STEEL UK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FY26  ·  Logistics cost transformation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66928" y="2331720"/>
            <a:ext cx="6035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From three spreadsheets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to one conversation.</a:t>
            </a:r>
            <a:endParaRPr/>
          </a:p>
        </p:txBody>
      </p:sp>
      <p:pic>
        <p:nvPicPr>
          <p:cNvPr descr="searce-dark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4572000"/>
            <a:ext cx="914400" cy="210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tasteel.png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0" y="502920"/>
            <a:ext cx="1371600" cy="17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310896" y="384048"/>
            <a:ext cx="20116" cy="418795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48640" y="60350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Logistics cost you can’t see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122529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Cost lives in </a:t>
            </a:r>
            <a:r>
              <a:rPr b="1" i="0" lang="en-US" sz="13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three disconnected spreadsheets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, emailed monthly — each a different shape.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48640" y="1828800"/>
            <a:ext cx="2432304" cy="1874519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49808" y="201168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Rail — DB Cargo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49808" y="2395728"/>
            <a:ext cx="411480" cy="274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49808" y="2560320"/>
            <a:ext cx="202996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1 row / movement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Costs split across haulage, fuel and cancellation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3456432" y="1828800"/>
            <a:ext cx="2432304" cy="1874519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657600" y="201168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Road UK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3657600" y="2395728"/>
            <a:ext cx="411480" cy="274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657600" y="2560320"/>
            <a:ext cx="202996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1 row / leg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Multi-leg orders; purchase vs sales cost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364224" y="1828800"/>
            <a:ext cx="2432304" cy="1874519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65392" y="201168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Road EU — imports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565392" y="2395728"/>
            <a:ext cx="411480" cy="274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565392" y="2560320"/>
            <a:ext cx="202996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1 row / charge line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~4 lines per shipment; customer code ≠ shipment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3977639"/>
            <a:ext cx="8229600" cy="603504"/>
          </a:xfrm>
          <a:prstGeom prst="roundRect">
            <a:avLst>
              <a:gd fmla="val 10000" name="adj"/>
            </a:avLst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77240" y="3977639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Nobody can answer, across all three at once: 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what’s our cost per tonne, where is it leaking, are we paying to move air?</a:t>
            </a:r>
            <a:endParaRPr/>
          </a:p>
        </p:txBody>
      </p:sp>
      <p:pic>
        <p:nvPicPr>
          <p:cNvPr descr="searce-dark.png"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36592"/>
            <a:ext cx="749808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310896" y="384048"/>
            <a:ext cx="20100" cy="41880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48640" y="384048"/>
            <a:ext cx="804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Before vs after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48640" y="603504"/>
            <a:ext cx="81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From 6 days to minutes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48640" y="1524000"/>
            <a:ext cx="3524400" cy="2857500"/>
          </a:xfrm>
          <a:prstGeom prst="roundRect">
            <a:avLst>
              <a:gd fmla="val 5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e-dark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36592"/>
            <a:ext cx="749806" cy="172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3"/>
          <p:cNvGrpSpPr/>
          <p:nvPr/>
        </p:nvGrpSpPr>
        <p:grpSpPr>
          <a:xfrm>
            <a:off x="809625" y="1762125"/>
            <a:ext cx="3000300" cy="2381250"/>
            <a:chOff x="809625" y="1762125"/>
            <a:chExt cx="3000300" cy="2381250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809625" y="1762125"/>
              <a:ext cx="300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BEFORE</a:t>
              </a:r>
              <a:endParaRPr b="1" sz="14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809625" y="2238375"/>
              <a:ext cx="3000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remove_circle_outline</a:t>
              </a:r>
              <a:r>
                <a:rPr b="0" lang="en-US" sz="12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Three disconnected spreadsheets</a:t>
              </a:r>
              <a:endParaRPr b="0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remove_circle_outline</a:t>
              </a:r>
              <a:r>
                <a:rPr b="0" lang="en-US" sz="12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Manual consolidation by an analyst</a:t>
              </a:r>
              <a:endParaRPr b="0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remove_circle_outline</a:t>
              </a:r>
              <a:r>
                <a:rPr b="0" lang="en-US" sz="12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One feed viewed at a time</a:t>
              </a:r>
              <a:endParaRPr b="0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remove_circle_outline</a:t>
              </a:r>
              <a:r>
                <a:rPr b="0" lang="en-US" sz="12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Static Power BI — look, don't ask</a:t>
              </a:r>
              <a:endParaRPr b="0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r>
                <a:rPr b="0" lang="en-US" sz="12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~6 days for monthly refresh</a:t>
              </a:r>
              <a:endParaRPr b="0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7589520" y="480974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071110" y="1381125"/>
            <a:ext cx="3524400" cy="3143400"/>
          </a:xfrm>
          <a:prstGeom prst="roundRect">
            <a:avLst>
              <a:gd fmla="val 6060" name="adj"/>
            </a:avLst>
          </a:prstGeom>
          <a:solidFill>
            <a:srgbClr val="006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3"/>
          <p:cNvGrpSpPr/>
          <p:nvPr/>
        </p:nvGrpSpPr>
        <p:grpSpPr>
          <a:xfrm>
            <a:off x="5334000" y="1619250"/>
            <a:ext cx="3000300" cy="2667150"/>
            <a:chOff x="5334000" y="1619250"/>
            <a:chExt cx="3000300" cy="2667150"/>
          </a:xfrm>
        </p:grpSpPr>
        <p:sp>
          <p:nvSpPr>
            <p:cNvPr id="128" name="Google Shape;128;p3"/>
            <p:cNvSpPr txBox="1"/>
            <p:nvPr/>
          </p:nvSpPr>
          <p:spPr>
            <a:xfrm>
              <a:off x="5334000" y="1619250"/>
              <a:ext cx="300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AFTER</a:t>
              </a:r>
              <a:endParaRPr b="1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5334000" y="2095500"/>
              <a:ext cx="3000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BAE6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One file drop — nothing else</a:t>
              </a:r>
              <a:endParaRPr b="0" sz="1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BAE6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Self-running cloud pipeline</a:t>
              </a:r>
              <a:endParaRPr b="0" sz="1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BAE6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Rail + UK road + EU road unified</a:t>
              </a:r>
              <a:endParaRPr b="0" sz="1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BAE6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b="0" lang="en-US" sz="13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Ask in plain English (Gemini)</a:t>
              </a:r>
              <a:endParaRPr b="0" sz="1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BAE6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0" lang="en-US" sz="13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b="1" lang="en-US" sz="13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Minutes, fully hands-off</a:t>
              </a:r>
              <a:endParaRPr b="0" sz="1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4143375" y="2524125"/>
            <a:ext cx="857400" cy="857400"/>
            <a:chOff x="4143375" y="2524125"/>
            <a:chExt cx="857400" cy="857400"/>
          </a:xfrm>
        </p:grpSpPr>
        <p:sp>
          <p:nvSpPr>
            <p:cNvPr id="131" name="Google Shape;131;p3"/>
            <p:cNvSpPr/>
            <p:nvPr/>
          </p:nvSpPr>
          <p:spPr>
            <a:xfrm>
              <a:off x="4143375" y="2524125"/>
              <a:ext cx="857400" cy="857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6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4238625" y="2619375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64FF"/>
                  </a:solidFill>
                  <a:latin typeface="Poppins"/>
                  <a:ea typeface="Poppins"/>
                  <a:cs typeface="Poppins"/>
                  <a:sym typeface="Poppins"/>
                </a:rPr>
                <a:t>6 DAYS</a:t>
              </a:r>
              <a:endParaRPr b="1" sz="1000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64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b="1" sz="1000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64FF"/>
                  </a:solidFill>
                  <a:latin typeface="Poppins"/>
                  <a:ea typeface="Poppins"/>
                  <a:cs typeface="Poppins"/>
                  <a:sym typeface="Poppins"/>
                </a:rPr>
                <a:t>MINS</a:t>
              </a:r>
              <a:endParaRPr b="1" sz="1000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310896" y="384048"/>
            <a:ext cx="20100" cy="41880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548640" y="38404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48640" y="603504"/>
            <a:ext cx="81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file in, </a:t>
            </a:r>
            <a:r>
              <a:rPr b="1" lang="en-US" sz="2600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knowledge</a:t>
            </a: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 out</a:t>
            </a:r>
            <a:endParaRPr/>
          </a:p>
        </p:txBody>
      </p:sp>
      <p:pic>
        <p:nvPicPr>
          <p:cNvPr descr="arch-conceptual.png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54480"/>
            <a:ext cx="822960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arce-dark.png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36592"/>
            <a:ext cx="749806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7589520" y="480974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310896" y="384048"/>
            <a:ext cx="20116" cy="418795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548640" y="60350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Event-driven on Google Cloud</a:t>
            </a:r>
            <a:endParaRPr/>
          </a:p>
        </p:txBody>
      </p:sp>
      <p:pic>
        <p:nvPicPr>
          <p:cNvPr descr="arch-technical.png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71600"/>
            <a:ext cx="8010144" cy="3379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arce-dark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36592"/>
            <a:ext cx="749808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310896" y="384048"/>
            <a:ext cx="20116" cy="418795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The demo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548640" y="60350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Watch it happen, live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48640" y="1554480"/>
            <a:ext cx="8229600" cy="676656"/>
          </a:xfrm>
          <a:prstGeom prst="roundRect">
            <a:avLst>
              <a:gd fmla="val 12000" name="adj"/>
            </a:avLst>
          </a:prstGeom>
          <a:solidFill>
            <a:srgbClr val="F4F7FB"/>
          </a:solidFill>
          <a:ln cap="flat" cmpd="sng" w="12700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777240" y="1554480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1641465" y="1773568"/>
            <a:ext cx="685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Start blank  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he dashboard shows nothing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48640" y="2340864"/>
            <a:ext cx="8229600" cy="676656"/>
          </a:xfrm>
          <a:prstGeom prst="roundRect">
            <a:avLst>
              <a:gd fmla="val 12000" name="adj"/>
            </a:avLst>
          </a:prstGeom>
          <a:solidFill>
            <a:srgbClr val="F4F7FB"/>
          </a:solidFill>
          <a:ln cap="flat" cmpd="sng" w="12700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777240" y="2340864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1691640" y="2340864"/>
            <a:ext cx="6858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Drop a file  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Land a supplier file in the cloud landing zone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48640" y="3127248"/>
            <a:ext cx="8229600" cy="676656"/>
          </a:xfrm>
          <a:prstGeom prst="roundRect">
            <a:avLst>
              <a:gd fmla="val 12000" name="adj"/>
            </a:avLst>
          </a:prstGeom>
          <a:solidFill>
            <a:srgbClr val="F4F7FB"/>
          </a:solidFill>
          <a:ln cap="flat" cmpd="sng" w="12700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77240" y="3127248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691640" y="3127248"/>
            <a:ext cx="6858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It runs itself  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Ingest, unify, KPIs, anomalies — no human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3913632"/>
            <a:ext cx="8229600" cy="676656"/>
          </a:xfrm>
          <a:prstGeom prst="roundRect">
            <a:avLst>
              <a:gd fmla="val 12000" name="adj"/>
            </a:avLst>
          </a:prstGeom>
          <a:solidFill>
            <a:srgbClr val="F4F7FB"/>
          </a:solidFill>
          <a:ln cap="flat" cmpd="sng" w="12700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777240" y="3913632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1691640" y="3913632"/>
            <a:ext cx="6858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Ask in English  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Conversational Analytics answers from the model</a:t>
            </a:r>
            <a:endParaRPr/>
          </a:p>
        </p:txBody>
      </p:sp>
      <p:pic>
        <p:nvPicPr>
          <p:cNvPr descr="searce-dark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36592"/>
            <a:ext cx="749808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310896" y="384048"/>
            <a:ext cx="20116" cy="418795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The demo · cost story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548640" y="60350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The insight that was hidden</a:t>
            </a:r>
            <a:endParaRPr/>
          </a:p>
        </p:txBody>
      </p:sp>
      <p:pic>
        <p:nvPicPr>
          <p:cNvPr descr="cost-insight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17320"/>
            <a:ext cx="4709160" cy="2634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5440680" y="1554480"/>
            <a:ext cx="32918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European road freight costs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8.4× per tonne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what rail does.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Invisible while the three feeds lived apart — the most actionable cost fact on the table.</a:t>
            </a:r>
            <a:endParaRPr/>
          </a:p>
        </p:txBody>
      </p:sp>
      <p:pic>
        <p:nvPicPr>
          <p:cNvPr descr="searce-dark.png" id="183" name="Google Shape;1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36592"/>
            <a:ext cx="749808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310896" y="384048"/>
            <a:ext cx="20116" cy="43708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The close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One file drop. Answers in plain English.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566928" y="2148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The control panel for the cost you can actually move.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54864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NEXT STEP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48640" y="3291840"/>
            <a:ext cx="2432304" cy="96012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768096" y="3438144"/>
            <a:ext cx="204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Productionize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IaC, scheduled supplier feeds, CI/CD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456432" y="3291840"/>
            <a:ext cx="2432304" cy="96012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456432" y="3291840"/>
            <a:ext cx="54864" cy="9601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3675887" y="3438144"/>
            <a:ext cx="20482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Broaden coverage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onboard more carriers &amp; modes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364224" y="3291840"/>
            <a:ext cx="2432304" cy="96012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E0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364224" y="3291840"/>
            <a:ext cx="54864" cy="9601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6583680" y="3438144"/>
            <a:ext cx="20482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Source-data quality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quarantine + alerting on gaps</a:t>
            </a:r>
            <a:endParaRPr/>
          </a:p>
        </p:txBody>
      </p:sp>
      <p:pic>
        <p:nvPicPr>
          <p:cNvPr descr="searce-dark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36592"/>
            <a:ext cx="749808" cy="17275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0A6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310896" y="384048"/>
            <a:ext cx="20116" cy="437083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2659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566928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4FF"/>
                </a:solidFill>
                <a:latin typeface="Poppins"/>
                <a:ea typeface="Poppins"/>
                <a:cs typeface="Poppins"/>
                <a:sym typeface="Poppins"/>
              </a:rPr>
              <a:t>Thank you  ·  </a:t>
            </a:r>
            <a:r>
              <a:rPr b="0" i="0" lang="en-US" sz="18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Searce × Tata Steel UK</a:t>
            </a:r>
            <a:endParaRPr/>
          </a:p>
        </p:txBody>
      </p:sp>
      <p:pic>
        <p:nvPicPr>
          <p:cNvPr descr="searce-dark.png"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206240"/>
            <a:ext cx="1005840" cy="231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84048"/>
            <a:ext cx="20116" cy="4187952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64FF"/>
                </a:solidFill>
                <a:latin typeface="Poppins"/>
              </a:rPr>
              <a:t>The demo · ask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659"/>
                </a:solidFill>
                <a:latin typeface="Poppins"/>
              </a:rPr>
              <a:t>Ask in plain English — then drill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Poppins"/>
              </a:rPr>
              <a:t>Three questions, one flowing conversation — every answer grounded in the model, </a:t>
            </a:r>
            <a:r>
              <a:rPr sz="1300" b="1" i="0">
                <a:solidFill>
                  <a:srgbClr val="002659"/>
                </a:solidFill>
                <a:latin typeface="Poppins"/>
              </a:rPr>
              <a:t>never invented.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82496"/>
            <a:ext cx="8229600" cy="89611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0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82496"/>
            <a:ext cx="54864" cy="896112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82496"/>
            <a:ext cx="777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64FF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01368"/>
            <a:ext cx="6949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64FF"/>
                </a:solidFill>
                <a:latin typeface="Poppins"/>
              </a:rPr>
              <a:t>START BROAD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02536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02659"/>
                </a:solidFill>
                <a:latin typeface="Poppins"/>
              </a:rPr>
              <a:t>“What’s our total logistics cost, split by mode and provider?”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95144"/>
            <a:ext cx="7040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64FF"/>
                </a:solidFill>
                <a:latin typeface="Poppins"/>
              </a:rPr>
              <a:t>Returns  </a:t>
            </a:r>
            <a:r>
              <a:rPr sz="1250" b="0" i="0">
                <a:solidFill>
                  <a:srgbClr val="475569"/>
                </a:solidFill>
                <a:latin typeface="Poppins"/>
              </a:rPr>
              <a:t>£81.4M across rail, UK road and EU road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34056"/>
            <a:ext cx="8229600" cy="89611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0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34056"/>
            <a:ext cx="54864" cy="896112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34056"/>
            <a:ext cx="777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64FF"/>
                </a:solidFill>
                <a:latin typeface="Poppi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52928"/>
            <a:ext cx="6949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64FF"/>
                </a:solidFill>
                <a:latin typeface="Poppins"/>
              </a:rPr>
              <a:t>GO DEEPER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54096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02659"/>
                </a:solidFill>
                <a:latin typeface="Poppins"/>
              </a:rPr>
              <a:t>“How does cost per tonne compare across rail, UK road and EU road?”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46704"/>
            <a:ext cx="7040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64FF"/>
                </a:solidFill>
                <a:latin typeface="Poppins"/>
              </a:rPr>
              <a:t>Returns  </a:t>
            </a:r>
            <a:r>
              <a:rPr sz="1250" b="0" i="0">
                <a:solidFill>
                  <a:srgbClr val="475569"/>
                </a:solidFill>
                <a:latin typeface="Poppins"/>
              </a:rPr>
              <a:t>EU road £55.31 vs rail £6.57 — 8.4× more per tonne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85615"/>
            <a:ext cx="8229600" cy="89611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0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85615"/>
            <a:ext cx="54864" cy="896112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85615"/>
            <a:ext cx="7772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64FF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04487"/>
            <a:ext cx="6949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64FF"/>
                </a:solidFill>
                <a:latin typeface="Poppins"/>
              </a:rPr>
              <a:t>MAKE IT ACTIONABLE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05655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02659"/>
                </a:solidFill>
                <a:latin typeface="Poppins"/>
              </a:rPr>
              <a:t>“Which lanes and carriers drive the most of that cost?”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98264"/>
            <a:ext cx="7040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64FF"/>
                </a:solidFill>
                <a:latin typeface="Poppins"/>
              </a:rPr>
              <a:t>Returns  </a:t>
            </a:r>
            <a:r>
              <a:rPr sz="1250" b="0" i="0">
                <a:solidFill>
                  <a:srgbClr val="475569"/>
                </a:solidFill>
                <a:latin typeface="Poppins"/>
              </a:rPr>
              <a:t>Ranked targets to consolidate or renegotiate</a:t>
            </a:r>
          </a:p>
        </p:txBody>
      </p:sp>
      <p:pic>
        <p:nvPicPr>
          <p:cNvPr id="24" name="Picture 23" descr="searc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36592"/>
            <a:ext cx="749808" cy="1727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89520" y="480974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Poppin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